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887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du Khi-Deux (χ²)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réelles &amp; implémentations en Python et 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1508760" cy="347472"/>
          </a:xfrm>
          <a:prstGeom prst="roundRect">
            <a:avLst>
              <a:gd name="adj" fmla="val 26316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BFDBFE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Statistiques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04288" y="3246120"/>
            <a:ext cx="1508760" cy="347472"/>
          </a:xfrm>
          <a:prstGeom prst="roundRect">
            <a:avLst>
              <a:gd name="adj" fmla="val 26316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BFDBFE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32461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68496" y="3246120"/>
            <a:ext cx="1508760" cy="347472"/>
          </a:xfrm>
          <a:prstGeom prst="roundRect">
            <a:avLst>
              <a:gd name="adj" fmla="val 26316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BFDBFE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68496" y="32461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32704" y="3246120"/>
            <a:ext cx="1508760" cy="347472"/>
          </a:xfrm>
          <a:prstGeom prst="roundRect">
            <a:avLst>
              <a:gd name="adj" fmla="val 26316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BFDBFE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32704" y="32461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Test d'hypothèse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96912" y="3246120"/>
            <a:ext cx="1508760" cy="347472"/>
          </a:xfrm>
          <a:prstGeom prst="roundRect">
            <a:avLst>
              <a:gd name="adj" fmla="val 26316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BFDBFE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96912" y="32461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Indépendance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1371600"/>
            <a:ext cx="22860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χ² = Σ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(O−E)²</a:t>
            </a:r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594360" cy="594360"/>
          </a:xfrm>
          <a:prstGeom prst="rect">
            <a:avLst/>
          </a:prstGeom>
          <a:solidFill>
            <a:srgbClr val="1A2E5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1078992"/>
            <a:ext cx="74066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25880" y="10881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E"/>
                </a:solidFill>
              </a:rPr>
              <a:t>Définition et Propriétés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34416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Comprendre la distribution χ²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19656"/>
            <a:ext cx="594360" cy="594360"/>
          </a:xfrm>
          <a:prstGeom prst="rect">
            <a:avLst/>
          </a:prstGeom>
          <a:solidFill>
            <a:srgbClr val="1A2E5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81965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1847088"/>
            <a:ext cx="74066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25880" y="18562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E"/>
                </a:solidFill>
              </a:rPr>
              <a:t>Applications Réelles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11226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Tests d'indépendance, d'ajustement, d'homogénéité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87752"/>
            <a:ext cx="594360" cy="594360"/>
          </a:xfrm>
          <a:prstGeom prst="rect">
            <a:avLst/>
          </a:prstGeom>
          <a:solidFill>
            <a:srgbClr val="1A2E5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5877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615184"/>
            <a:ext cx="74066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25880" y="262432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E"/>
                </a:solidFill>
              </a:rPr>
              <a:t>Implémentation en Python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288036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scipy.stats, pandas, visualisations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55848"/>
            <a:ext cx="594360" cy="594360"/>
          </a:xfrm>
          <a:prstGeom prst="rect">
            <a:avLst/>
          </a:prstGeom>
          <a:solidFill>
            <a:srgbClr val="1A2E5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3558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88720" y="3383280"/>
            <a:ext cx="74066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25880" y="33924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E"/>
                </a:solidFill>
              </a:rPr>
              <a:t>Implémentation en 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364845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chisq.test(), ggplot2, exemples concrets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23944"/>
            <a:ext cx="594360" cy="594360"/>
          </a:xfrm>
          <a:prstGeom prst="rect">
            <a:avLst/>
          </a:prstGeom>
          <a:solidFill>
            <a:srgbClr val="1A2E5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12394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88720" y="4151376"/>
            <a:ext cx="74066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25880" y="41605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E"/>
                </a:solidFill>
              </a:rPr>
              <a:t>Comparaison &amp; Bonnes Pratiques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4165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Quand utiliser χ² ? Limites et alternatives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Définition et Propriétés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74904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Définition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du khi-deux χ²(k)</a:t>
            </a:r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la distribution de la somme des carrés de </a:t>
            </a:r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variables aléatoires normales</a:t>
            </a:r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centrées réduites indépendantes.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 = degrés de liberté (ddl)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Espérance : E[X] = 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: Var[X] = 2k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asymétrique à droite, tend vers la normale quand k → ∞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DBFE"/>
                </a:solidFill>
              </a:rPr>
              <a:t>Formule statistique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4630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χ² = Σᵢ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(Oᵢ − Eᵢ)²</a:t>
            </a:r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Eᵢ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19659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2944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E"/>
                </a:solidFill>
              </a:rPr>
              <a:t>Degrés de liberté selon le test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291840"/>
          <a:ext cx="4114800" cy="146304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ddl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Ajustement (k catégories)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 − 1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Indépendance (r×c tableau)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(r−1)(c−1)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Homogénéité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même que indépendance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Applications Réelles du Test χ²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37947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d'Indépendance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Exemples concrets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Marketing : fumeurs vs non-fumeurs et préférence de marque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Médecine : genre vs efficacité d'un traitement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3474720"/>
            <a:ext cx="25603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Hypothèse nulle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E5E"/>
                </a:solidFill>
              </a:rPr>
              <a:t>H₀ : les deux variables sont indépendantes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743200" cy="37947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d'Ajustement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Exemples concrets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99339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Génétique : vérifier les ratios mendéliens 3:1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Jeux : dé équilibré ou pipé 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3474720"/>
            <a:ext cx="25603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Hypothèse nulle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3840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E5E"/>
                </a:solidFill>
              </a:rPr>
              <a:t>H₀ : la distribution observée = distribution théorique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097280"/>
            <a:ext cx="2743200" cy="37947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09728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d'Homogénéité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Exemples concrets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199339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Élections : résultats similaires dans plusieurs régions 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Qualité : taux de défauts par usine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3474720"/>
            <a:ext cx="25603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Hypothèse nulle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3840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E5E"/>
                </a:solidFill>
              </a:rPr>
              <a:t>H₀ : populations différentes ont même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0699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Implémentation en Python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6998"/>
                </a:solidFill>
              </a:rPr>
              <a:t>Test d'indépendance (scipy.stats)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50292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069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087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
</a:t>
            </a:r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scipy.stats </a:t>
            </a:r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chi2_contingency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Table de contingence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[[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chi2, p, ddl, attendu = chi2_contingency(data)
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f"χ²={chi2:.3f}, p={p:.4f}, ddl={ddl}"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6998"/>
                </a:solidFill>
              </a:rPr>
              <a:t>Test d'ajustement (goodness of fit)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4160520"/>
            <a:ext cx="50292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22452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scipy.stats </a:t>
            </a:r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chisquare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chi2, p = chisquare([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f_exp=[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16.67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051560"/>
            <a:ext cx="3200400" cy="39319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1115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6998"/>
                </a:solidFill>
              </a:rPr>
              <a:t>Librairies clés Python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1508760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545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6998"/>
                </a:solidFill>
              </a:rPr>
              <a:t>scipy.stats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06440" y="1801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chi2_contingency, chisquare, chi2.ppf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2203704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2402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6998"/>
                </a:solidFill>
              </a:rPr>
              <a:t>pandas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496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crosstab() pour tables de contingence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15000" y="2898648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9352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6998"/>
                </a:solidFill>
              </a:rPr>
              <a:t>statsmodels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06440" y="31912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proportion_chisquare, GofChisquarePower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15000" y="3593592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3630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6998"/>
                </a:solidFill>
              </a:rPr>
              <a:t>pingouin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06440" y="3886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chi2_independence() + effet size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15000" y="4288536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43251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6998"/>
                </a:solidFill>
              </a:rPr>
              <a:t>matplotlib/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06998"/>
                </a:solidFill>
              </a:rPr>
              <a:t>seaborn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06440" y="4581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heatmap, barplot des résidus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76DC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Implémentation en 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DC3"/>
                </a:solidFill>
              </a:rPr>
              <a:t>Test d'indépendance avec chisq.test()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502920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276DC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087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Créer la table de contingence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&lt;- matrix(c(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nrow =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byrow 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du khi-deux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chisq.test(data)
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(res)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Valeurs attendues et résidus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res$expected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res$residuals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DC3"/>
                </a:solidFill>
              </a:rPr>
              <a:t>Test d'ajustement + visualisation ggplot2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4224528"/>
            <a:ext cx="5029200" cy="758952"/>
          </a:xfrm>
          <a:prstGeom prst="rect">
            <a:avLst/>
          </a:prstGeom>
          <a:solidFill>
            <a:srgbClr val="1E293B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27939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chisq.test(x=c(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p=c(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rescale.p=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051560"/>
            <a:ext cx="3200400" cy="39319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1115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DC3"/>
                </a:solidFill>
              </a:rPr>
              <a:t>Packages R utiles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1508760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545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DC3"/>
                </a:solidFill>
              </a:rPr>
              <a:t>stats (base)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06440" y="1801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chisq.test() intégré dans 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2203704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2402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DC3"/>
                </a:solidFill>
              </a:rPr>
              <a:t>vcd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496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assocstats(), Cramer's V, mosaic plot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15000" y="2898648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935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DC3"/>
                </a:solidFill>
              </a:rPr>
              <a:t>ggplot2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06440" y="31912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visualisation des résidus standardisés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15000" y="3593592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36301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DC3"/>
                </a:solidFill>
              </a:rPr>
              <a:t>corrplot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06440" y="3886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heatmap de corrélations / résidus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15000" y="4288536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43251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6DC3"/>
                </a:solidFill>
              </a:rPr>
              <a:t>rcompanion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06440" y="4581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cramerV(), effect size automatique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Comparaison Python vs R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84048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6DC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Facilité d'usage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scipy.stats 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chisq.test() encore plus direct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 données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+ DataFrame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data.frame natif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seaborn / matplotlib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ggplot2 / vcd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pingouin.chi2_independence()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rcompanion::cramerV()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 Notebook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Markdown / Quarto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engineering, ML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 statistique pure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Limites &amp; Bonnes Pratiques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749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⚠️  Limites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910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Effectifs attendus Eᵢ ≥ 5 dans chaque 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157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Ne mesure pas l'intensité de l'association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Sensible à la taille de l'échantillon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Variables qualitatives uniquement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858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N'indique pas la direction de l'effet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114800" cy="37490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1170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</a:rPr>
              <a:t>✅  Bonnes Pratiques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28032" y="16276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4064" y="1591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Vérifier Eᵢ ≥ 5 avant le test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28032" y="219456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4064" y="21579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Calculer le V de Cramér (taille d'effet)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28032" y="276148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Si Eᵢ &lt; 5 : utiliser le test exact de Fisher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28032" y="332841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291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Corriger avec Yates pour tables 2×2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28032" y="389534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84064" y="3858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Accompagner le p-value d'un intervalle de confiance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Exemple Guidé : Genre × Préférence de Boisson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1. Données observées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89888"/>
          <a:ext cx="457200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  <a:gridCol w="100584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Genre \ Boisson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Café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Homme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Femme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2. Calcul (Python)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3172968"/>
            <a:ext cx="45720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255264"/>
            <a:ext cx="42976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 = np.array([[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]])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chi2, p, ddl, exp = chi2_contingency(obs)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χ²=10.05, p=0.0066, ddl=2 → rejet H₀ (α=5%)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20640" y="1051560"/>
            <a:ext cx="3657600" cy="39319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57800" y="1115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3. Interprétation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57800" y="1517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H₀: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1517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Genre et préférence sont indépendants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257800" y="2093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H₁: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09360" y="20939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Il existe une association genre × boisson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57800" y="26700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χ² obs: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09360" y="2670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10.05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257800" y="3246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p-value: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09360" y="32461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0.0066 &lt; 0.05 → rejet de H₀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257800" y="38221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V Cramér: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09360" y="38221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0.22 → effet faible à modéré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257800" y="43982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Conclusion: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309360" y="43982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Genre influence la préférence de boisson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105156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98448"/>
            <a:ext cx="411480" cy="411480"/>
          </a:xfrm>
          <a:prstGeom prst="ellipse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BFDBFE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98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χ²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26187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Outil incontournable pour les variables catégorielles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975104"/>
            <a:ext cx="411480" cy="411480"/>
          </a:xfrm>
          <a:prstGeom prst="ellipse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BFDBFE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751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93852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Python : scipy, pingouin, pandas pour workflows data science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411480" cy="411480"/>
          </a:xfrm>
          <a:prstGeom prst="ellipse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BFDBFE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61518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 : chisq.test() + vcd + ggplot2 pour analyses statistiques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328416"/>
            <a:ext cx="411480" cy="411480"/>
          </a:xfrm>
          <a:prstGeom prst="ellipse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BFDBFE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284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Toujours vérifier les conditions d'application (Eᵢ ≥ 5)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005072"/>
            <a:ext cx="411480" cy="411480"/>
          </a:xfrm>
          <a:prstGeom prst="ellipse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BFDBFE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05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396849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Compléter avec V de Cramér pour mesurer la force de l'association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FDBFE"/>
                </a:solidFill>
              </a:rPr>
              <a:t>Merci de votre attention 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Loi du Khi-Deux</dc:title>
  <dc:subject>PptxGenJS Presentation</dc:subject>
  <dc:creator>PptxGenJS</dc:creator>
  <cp:lastModifiedBy>PptxGenJS</cp:lastModifiedBy>
  <cp:revision>1</cp:revision>
  <dcterms:created xsi:type="dcterms:W3CDTF">2026-05-18T22:11:40Z</dcterms:created>
  <dcterms:modified xsi:type="dcterms:W3CDTF">2026-05-18T22:11:40Z</dcterms:modified>
</cp:coreProperties>
</file>